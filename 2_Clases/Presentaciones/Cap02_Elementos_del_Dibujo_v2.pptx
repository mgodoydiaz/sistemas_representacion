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un plano no es un dibujo bonito, es un documento normalizado; hoy fijamos sus cuatro elementos: soporte, cajetín, entes geométricos y tipos de línea.
• Ejemplo práctico: un plano sin cajetín no se puede archivar ni auditar; si llega a obra sin escala ni autor, nadie lo firma ni lo ejecuta.
• Anclaje: todo lo que veamos hoy se usa desde la primera lámina del curso y se sigue aplicando en diédrico y en acotación.
• Pregunta para la sala: ¿cuántos han visto un plano real de una máquina o de una obra? ¿Qué fue lo primero que miraron al recibirlo?
• Tiempo: 5 minutos de encuadre antes de entrar en formatos.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la serie A es una sola proporción repetida; por eso una lámina A3 se reduce a A4 sin recortar ni deformar nada.
• Ejemplo práctico: mostrar en vivo el doblado de una hoja A3 por la mitad y comprobar que sale un A4 con la misma forma. Fotocopiar de A3 a A4 es exactamente ese paso.
• Error frecuente: dibujar hasta el borde del papel. Fuera del recuadro no se dibuja nada; el margen izquierdo de 20 mm existe para perforar sin comerse el dibujo.
• Detalle de oficio: por grande que sea el plano, se pliega a A4 y el cajetín queda a la vista en la cara superior; así se archiva en carpeta.
• Pregunta para la sala: si un A0 mide 1 m², ¿cuánto mide un A4? (1/16 de m²; se llega dividiendo cuatro veces).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el cajetín convierte un dibujo en un documento trazable; identifica qué es, quién lo hizo, cuándo y en qué escala se lee.
• Ejemplo práctico: si el plano no declara la escala, nadie puede tomar medidas; y si no declara el método de proyección, la vista lateral puede interpretarse al revés.
• Error frecuente: dejar el cajetín para el final y entregarlo a medio llenar. En este curso, cajetín incompleto es lámina incompleta.
• Pregunta para la sala: si tuvieran que borrar un campo del cajetín, ¿cuál dolería más perder? (la escala y el autor son los que más se echan de menos).
• Anuncio: los seis campos son exactamente los que se piden en el taller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todo el dibujo técnico se construye con tres entes; la notación no es capricho, es lo que permite leer una lámina ajena.
• Regla de notación: una prima para la proyección horizontal, dos primas para la vertical. Se usará en todo el sistema diédrico, así que conviene automatizarla ahora.
• Ejemplo práctico: escribir en la pizarra A, A' y A'' y preguntar qué significa cada uno; luego pedir el mismo ejercicio con una recta.
• Error frecuente: rotular puntos con minúscula o rectas con mayúscula; parece menor, pero rompe la lectura cuando la lámina se llena de letras.
• Pregunta para la sala: ¿cuántos puntos necesito para definir un plano y por qué no sirven tres alineados?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cada tipo de línea dice algo distinto; cambiar el tipo cambia el significado del dibujo, no su estética.
• Recorrido de la figura: nombrar los cinco tipos de arriba abajo y su uso, sin leer la tabla completa del apunte.
• Ejemplo práctico: una arista dibujada continua cuando debía ir a trazos convierte un agujero interior en un saliente; quien fabrica la pieza la hace mal.
• Falta el sexto tipo en la figura: trazo y punto fina con extremos gruesos, para las trazas de planos de corte; se anuncia ahora y se usa en el capítulo de secciones.
• Pregunta para la sala: si veo una línea de trazos en una vista frontal, ¿qué estoy viendo que no podría ver desde afuera?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no se eligen grosores sueltos, se elige un grupo de líneas: un grueso y su fino en relación 2:1.
• Ejemplo práctico: si en una misma lámina alguien mezcla 0,70 con 0,25, el fino desaparece al proyectar o al fotocopiar y el dibujo se vuelve ilegible; si mezcla 0,50 con 0,35, ya no se distingue el grueso del fino a un metro.
• Criterio de campo: la prueba es mirar la lámina a un metro de distancia; si no se separa grueso de fino, el grupo está mal elegido o mal ejecutado.
• Para el taller: en A4 el grupo obligatorio es 0,50 / 0,25 mm.
• Pregunta para la sala: ¿qué grosor usarían para el contorno de una pieza en A1 y por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la jerarquía resuelve los empates. Nunca se superponen dos líneas en el mismo lugar: gana la de mayor rango.
• Ejemplo práctico: en una pieza simétrica con un agujero, el eje y la arista oculta pueden coincidir; se dibuja la arista oculta y el eje solo asoma fuera del contorno.
• Error frecuente: la línea de trazos que arranca con un espacio y parece cortada, o los trazos que se van alargando hacia el final de la línea.
• Detalle de ejecución: la uniformidad del trazo se juzga en toda la lámina, no en una línea aislada; conviene practicar el ritmo antes de trazar el definitivo.
• Pregunta para la sala: si un eje y una arista visible coinciden, ¿cuál dibujo?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la escala afecta al dibujo, nunca a la cota. El papel se achica; la pieza no.
• Ejemplo práctico: una pieza de 500 mm dibujada en 1:5 mide 100 mm en la hoja, pero la cota dice 500. Quien fabrica lee 500 y no necesita saber a qué escala se dibujó.
• Ejemplo inverso: en una ampliación 5:1 de un pasador de 2 mm, el dibujo mide 10 mm y la cota sigue diciendo 2.
• Error frecuente: medir con regla común y dividir mentalmente. Para eso existe el escalímetro; dividir a mano es de donde salen los errores de un dígito.
• Pregunta para la sala: si mido 37 mm sobre un plano en 1:20, ¿cuánto mide la pieza? (740 mm).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 que debe quedar: el taller reúne los cuatro elementos del capítulo en una sola lámina: soporte, márgenes, cajetín y tipos de línea.
• Recorrido en pizarra: dibujar el esquema del A4 vertical, marcar los 10 mm y los 20 mm de la izquierda y ubicar el cajetín apoyado en el recuadro.
• Ejemplo práctico: las seis muestras de 60 mm deben quedar alineadas y separadas de forma pareja; una tira torcida se nota más que un trazo grueso mal hecho.
• Recordatorio: grupo 0,50 / 0,25 mm, sin mezclar con otro grupo. El criterio de corrección es mirar la lámina a un metro.
• Pregunta para la sala antes de empezar: ¿qué ponen en el campo de escala de esta lámina, si no hay ninguna pieza dibujada? (1:1).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Cierre en tres frases: soporte normalizado, línea que comunica, cota que no miente. Si se llevan eso, el capítulo está cumplido.
• Ejemplo práctico para fijar la última idea: repetir el caso de 1:5, dibujo de 100 mm y cota de 500 mm; es el error que más se repite en la primera entrega.
• Recordatorio operativo: la lámina se entrega al final de la clase; revisar el cajetín antes de pasarla adelante.
• Próxima clase: proyección ortogonal y sistema diédrico; conviene traer el escalímetro y el grupo de lápices 0,50 / 0,25.
• Pregunta de salida: ¿qué dato del cajetín permite tomar medidas de un plano?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 1119 · UNIVERSIDAD CATÓLICA DE TEMUCO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2011680"/>
            <a:ext cx="8165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del dibujo: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hoja, cajetín, entes y línea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22960" y="4160520"/>
            <a:ext cx="7251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elementos con que se construye un plano, en su forma normalizada.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296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Godoy Díaz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Civil Industrial · Capítulo 2 · Elementos del dibujo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EL SOPORTE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la serie A (ISO 216)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A0 tiene 1 m² de superficie y lados en razón √2 : 1.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partir por la mitad del lado mayor se obtiene el siguiente formato, con la misma proporción: el dibujo cambia de tamaño sin deformarse.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A0 841×1189 · A1 594×841 · A2 420×594 · A3 297×420 · A4 210×297 (mm).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formato mayor se pliega hasta A4, con el cajetín visible arriba.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ISO 5457: recuadro a 10 mm del borde; 20 mm en el borde izquierdo, el de archivado.</a:t>
            </a:r>
            <a:endParaRPr lang="en-US" sz="1600" dirty="0"/>
          </a:p>
        </p:txBody>
      </p:sp>
      <p:pic>
        <p:nvPicPr>
          <p:cNvPr id="16" name="Image 1" descr="/home/claude/PCI1119/img/fig_formatos_serie_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1691640"/>
            <a:ext cx="3547872" cy="3474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2.1 — Anidamiento de la serie A, del A0 al A4.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IDENTIFICACIÓN DEL PLANO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cajetín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10543032" cy="1417320"/>
          </a:xfrm>
          <a:prstGeom prst="rect">
            <a:avLst/>
          </a:prstGeom>
          <a:solidFill>
            <a:srgbClr val="F4F7F9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1856232"/>
            <a:ext cx="9957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identificación del plano, siempre en la esquina inferior derecha y apoyado en el recuadro. Es lo primero que lee quien recibe el plano: sin cajetín, la lámina no es un documento técnico.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60" y="3566160"/>
            <a:ext cx="9902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obligatorios: título del dibujo o pieza · autor (nombre y curso) · fecha.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empleada · número de lámina y total de láminas.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del método de proyección: primer o tercer diedro.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rotula a mano, con letra normalizada, y se completa antes de entregar.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ENTES GEOMÉTRICOS ELEMENTALES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Punto, recta y plano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3148584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1892808"/>
            <a:ext cx="263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263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mayúscula: A, B, C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2560320"/>
            <a:ext cx="2636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sin dimensión.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horizontal: A'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vertical: A''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 de una pieza: A, B, C.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20184" y="1691640"/>
            <a:ext cx="3148584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76216" y="1892808"/>
            <a:ext cx="263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776216" y="2221992"/>
            <a:ext cx="263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minúscula: r, 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76216" y="2560320"/>
            <a:ext cx="2636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sucesivos en una sola dirección, infinita.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Proyecciones: r' y r''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y líneas de referencia: r, 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217408" y="1691640"/>
            <a:ext cx="3148584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73440" y="1892808"/>
            <a:ext cx="263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8473440" y="2221992"/>
            <a:ext cx="263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griega: α, β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473440" y="2560320"/>
            <a:ext cx="2636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infinita determinada por tres puntos no alineados.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Proyecciones: α' y α''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Caras y planos de corte: α, 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EL TIPO DE LÍNEA ES INFORMACIÓN, NO DECORACIÓN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línea (ISO 128)</a:t>
            </a:r>
            <a:endParaRPr lang="en-US" sz="3000" dirty="0"/>
          </a:p>
        </p:txBody>
      </p:sp>
      <p:pic>
        <p:nvPicPr>
          <p:cNvPr id="15" name="Image 1" descr="/home/claude/PCI1119/img/fig_tipos_de_line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1691640"/>
            <a:ext cx="10543032" cy="3566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5330952"/>
            <a:ext cx="9171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2.2 — Continua gruesa: aristas visibles · Continua fina: cotas y auxiliares · Trazos: aristas ocultas · Trazo y punto: ejes · Zigzag: roturas. Trazo y punto con extremos gruesos: trazas de planos de corte.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SERIE NORMALIZADA: 0,25 · 0,35 · 0,50 · 0,70 · 1,00 MM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un grupo de líneas, no un grosor suelto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4997196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A4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 mm gruesa · 0,25 mm fina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2560320"/>
            <a:ext cx="44851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obligatorio del taller de hoy.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Gruesa: aristas y contornos visibles.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Fina: cotas, auxiliares, rayados y ejes.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68796" y="1691640"/>
            <a:ext cx="4997196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24828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uso general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4828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 mm gruesa · 0,35 mm fina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4828" y="2560320"/>
            <a:ext cx="44851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corriente y formatos mayores que A4.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relación 2:1 entre el grueso y su fino.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grupos no se mezclan en la misma lámina.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· JERARQUÍA Y REGLAS DE TRAZADO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líneas coinciden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10543032" cy="1417320"/>
          </a:xfrm>
          <a:prstGeom prst="rect">
            <a:avLst/>
          </a:prstGeom>
          <a:solidFill>
            <a:srgbClr val="F4F7F9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1856232"/>
            <a:ext cx="9957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visible  &gt;  arista oculta  &gt;  eje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líneas caen en la misma posición, se dibuja solo la de mayor jerarquía.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60" y="3566160"/>
            <a:ext cx="9902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de trazos empiezan y terminan en trazo, nunca en espacio.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ejes sobresalen de 3 a 5 mm del contorno de la pieza.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longitud de trazos y espacios se mantiene uniforme en toda la lámina.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ESCALAS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trabaja con la escala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828800"/>
            <a:ext cx="2423160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51560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51560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escala normalizada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51560" y="3200400"/>
            <a:ext cx="1965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1:1 · reducción 1:2, 1:5, 1:10, 1:20, 1:50, 1:100 · ampliación 2:1, 5:1, 10:1. Solo series de 1, 2 y 5 por potencias de 10.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529584" y="1828800"/>
            <a:ext cx="2423160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58184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3758184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Declararla en el cajetín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758184" y="3200400"/>
            <a:ext cx="1965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vista va en escala distinta a la del plano, se indica junto a esa vista.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36208" y="1828800"/>
            <a:ext cx="2423160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64808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464808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con el escalímetro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64808" y="3200400"/>
            <a:ext cx="1965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triangular con seis graduaciones, una por escala. Se lee directamente sobre la cara correspondiente: no se mide y luego se divide.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942832" y="1828800"/>
            <a:ext cx="2423160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71432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9171432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Acotar con la medida real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171432" y="3200400"/>
            <a:ext cx="1965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la cota indica siempre la medida real del objeto, nunca la medida tomada sobre el papel.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· Lámina A4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· TALLER DE LA CLASE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Encargo: lámina A4 vertical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ISO 5457: recuadro a 10 mm del borde y 20 mm a la izquierda.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Cajetín en la esquina inferior derecha, rotulado a mano, con los seis campos obligatorios.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horizontal con muestras de los tipos de línea de la sección 2.4, de 60 mm cada una.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muestra rotulada con su nombre y su grosor. Grupo obligatorio: 0,50 / 0,25 mm.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22960" y="4709160"/>
            <a:ext cx="4892040" cy="86868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1560" y="4754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 final de la clase. Se corrige por cajetín completo, grosores distinguibles a un metro y limpieza del trazado.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5148072" cy="388620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6400800" y="340614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Croquis de referencia — A4 vertical: recuadro, cajetín inferior derecho y tira de líneas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Elementos del dibujo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CAPÍTULO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llevarse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9628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serie A es una sola proporción repetida: todo se pliega y se archiva en A4.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y el grosor de línea son información; sin cajetín no hay documento técnico.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afecta al dibujo, nunca a la cota: la cota siempre da la medida real.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296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del taller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11480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 A4 vertical: margen ISO 5457 (10 mm; 20 mm a la izquierda), cajetín rotulado a mano con los seis campos y una tira horizontal de muestras de línea de 60 mm, rotuladas con nombre y grosor. Grupo 0,50 / 0,25 mm.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corrección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489204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Cajetín completo y legible · grosores distinguibles a un metro de distancia · trazado limpio, sin repasos ni manchas, con el recuadro cerrado.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 — Elementos del dibujo</dc:title>
  <dc:subject>PptxGenJS Presentation</dc:subject>
  <dc:creator>Miguel Godoy Díaz</dc:creator>
  <cp:lastModifiedBy>Miguel Godoy Díaz</cp:lastModifiedBy>
  <cp:revision>1</cp:revision>
  <dcterms:created xsi:type="dcterms:W3CDTF">2026-08-19T15:59:28Z</dcterms:created>
  <dcterms:modified xsi:type="dcterms:W3CDTF">2026-08-19T15:59:28Z</dcterms:modified>
</cp:coreProperties>
</file>